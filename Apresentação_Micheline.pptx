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Noto Sans" panose="020B0502040204020203" pitchFamily="3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R+ONr6JMrWVsZMiXVVEfBuXcd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7252f3d92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7252f3d92d_0_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37252f3d92d_0_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7252f3d92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g37252f3d92d_0_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7252f3d92d_0_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252f3d92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7252f3d92d_0_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7252f3d92d_0_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1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32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6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59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37252f3d92d_0_9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37252f3d92d_0_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07"/>
            <a:ext cx="9144000" cy="5132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g37252f3d92d_0_5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36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7252f3d92d_0_53"/>
          <p:cNvSpPr/>
          <p:nvPr/>
        </p:nvSpPr>
        <p:spPr>
          <a:xfrm>
            <a:off x="428625" y="628650"/>
            <a:ext cx="580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2025"/>
              <a:buFont typeface="Noto Sans"/>
              <a:buNone/>
            </a:pPr>
            <a:r>
              <a:rPr lang="en-US" sz="2025" b="1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Micheline Cavalcanti</a:t>
            </a:r>
            <a:endParaRPr sz="202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7252f3d92d_0_53"/>
          <p:cNvSpPr/>
          <p:nvPr/>
        </p:nvSpPr>
        <p:spPr>
          <a:xfrm>
            <a:off x="750100" y="1167400"/>
            <a:ext cx="24708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50"/>
              <a:buFont typeface="Noto Sans"/>
              <a:buNone/>
            </a:pP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Secretária Executiva - </a:t>
            </a:r>
            <a:r>
              <a:rPr lang="en-US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UFPE</a:t>
            </a: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g37252f3d92d_0_5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075" y="158067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7252f3d92d_0_53"/>
          <p:cNvSpPr/>
          <p:nvPr/>
        </p:nvSpPr>
        <p:spPr>
          <a:xfrm>
            <a:off x="750100" y="1520650"/>
            <a:ext cx="4903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50"/>
              <a:buFont typeface="Noto Sans"/>
              <a:buNone/>
            </a:pP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Pós-Gradua</a:t>
            </a:r>
            <a:r>
              <a:rPr lang="en-US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da</a:t>
            </a: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em Gestão Ágil de Projetos - </a:t>
            </a:r>
            <a:r>
              <a:rPr lang="en-US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CESAR School</a:t>
            </a:r>
            <a:r>
              <a:rPr lang="en-US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g37252f3d92d_0_5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962122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7252f3d92d_0_53"/>
          <p:cNvSpPr/>
          <p:nvPr/>
        </p:nvSpPr>
        <p:spPr>
          <a:xfrm>
            <a:off x="750100" y="1930300"/>
            <a:ext cx="3678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50"/>
              <a:buFont typeface="Noto Sans"/>
              <a:buNone/>
            </a:pP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Estudante de Ciência de Dados - </a:t>
            </a:r>
            <a:r>
              <a:rPr lang="en-US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Estácio</a:t>
            </a: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7252f3d92d_0_53"/>
          <p:cNvSpPr/>
          <p:nvPr/>
        </p:nvSpPr>
        <p:spPr>
          <a:xfrm>
            <a:off x="751300" y="2311800"/>
            <a:ext cx="3391200" cy="1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50"/>
              <a:buFont typeface="Noto Sans"/>
              <a:buNone/>
            </a:pP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Aluna do </a:t>
            </a:r>
            <a:r>
              <a:rPr lang="en-US" b="0" i="1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Vem pra Neuro, Mulher!</a:t>
            </a:r>
            <a:r>
              <a:rPr lang="en-US" b="0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-</a:t>
            </a:r>
            <a:r>
              <a:rPr lang="en-US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2025</a:t>
            </a:r>
            <a:r>
              <a:rPr lang="en-US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g37252f3d92d_0_5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38" y="1199217"/>
            <a:ext cx="21431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g37252f3d92d_0_5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063" y="23117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g37252f3d92d_0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85500" y="3353888"/>
            <a:ext cx="842025" cy="842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g37252f3d92d_0_53"/>
          <p:cNvGrpSpPr/>
          <p:nvPr/>
        </p:nvGrpSpPr>
        <p:grpSpPr>
          <a:xfrm>
            <a:off x="5778875" y="116650"/>
            <a:ext cx="2188500" cy="3097500"/>
            <a:chOff x="6390450" y="281350"/>
            <a:chExt cx="2188500" cy="3097500"/>
          </a:xfrm>
        </p:grpSpPr>
        <p:sp>
          <p:nvSpPr>
            <p:cNvPr id="31" name="Google Shape;31;g37252f3d92d_0_53"/>
            <p:cNvSpPr/>
            <p:nvPr/>
          </p:nvSpPr>
          <p:spPr>
            <a:xfrm>
              <a:off x="6390450" y="281350"/>
              <a:ext cx="2188500" cy="309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" name="Google Shape;32;g37252f3d92d_0_5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463300" y="362151"/>
              <a:ext cx="2042800" cy="2935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" name="Google Shape;39;g37252f3d92d_0_53"/>
          <p:cNvGrpSpPr/>
          <p:nvPr/>
        </p:nvGrpSpPr>
        <p:grpSpPr>
          <a:xfrm>
            <a:off x="4057050" y="2664336"/>
            <a:ext cx="1685400" cy="2446800"/>
            <a:chOff x="3297050" y="461075"/>
            <a:chExt cx="1685400" cy="2446800"/>
          </a:xfrm>
        </p:grpSpPr>
        <p:sp>
          <p:nvSpPr>
            <p:cNvPr id="40" name="Google Shape;40;g37252f3d92d_0_53"/>
            <p:cNvSpPr/>
            <p:nvPr/>
          </p:nvSpPr>
          <p:spPr>
            <a:xfrm>
              <a:off x="3297050" y="461075"/>
              <a:ext cx="1685400" cy="2446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" name="Google Shape;41;g37252f3d92d_0_5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340550" y="518950"/>
              <a:ext cx="1566050" cy="23417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2379893" y="516523"/>
            <a:ext cx="43842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Visão Geral das Bases de Dados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28625" y="1228725"/>
            <a:ext cx="2486025" cy="2143125"/>
          </a:xfrm>
          <a:prstGeom prst="rect">
            <a:avLst/>
          </a:prstGeom>
          <a:solidFill>
            <a:srgbClr val="2A4365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7325" y="1407319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358775" y="2228201"/>
            <a:ext cx="26256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Contém informações cadastrais</a:t>
            </a:r>
            <a:endParaRPr sz="1200">
              <a:solidFill>
                <a:srgbClr val="EDF2F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e demográficas  </a:t>
            </a:r>
            <a:endParaRPr sz="1200">
              <a:solidFill>
                <a:srgbClr val="EDF2F7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de</a:t>
            </a:r>
            <a:r>
              <a:rPr lang="en-US" sz="1350" b="1">
                <a:solidFill>
                  <a:srgbClr val="4299E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350" b="1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rPr>
              <a:t>150.000</a:t>
            </a: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clientes.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328988" y="1228725"/>
            <a:ext cx="2486025" cy="2143125"/>
          </a:xfrm>
          <a:prstGeom prst="rect">
            <a:avLst/>
          </a:prstGeom>
          <a:solidFill>
            <a:srgbClr val="2A4365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140731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3507581" y="2312611"/>
            <a:ext cx="21288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Registra clientes com crédito aprovado, liquidações de pagamentos e devedores.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29350" y="1228725"/>
            <a:ext cx="2486025" cy="2143125"/>
          </a:xfrm>
          <a:prstGeom prst="rect">
            <a:avLst/>
          </a:prstGeom>
          <a:solidFill>
            <a:srgbClr val="2A4365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0913" y="140731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407944" y="2224386"/>
            <a:ext cx="21288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Apresenta os clientes que tiveram suas solicitações de créditos negadas, incluindo motivo de negativa e novas tentativas.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28625" y="3800475"/>
            <a:ext cx="8286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350"/>
              <a:buFont typeface="Noto Sans"/>
              <a:buNone/>
            </a:pPr>
            <a:r>
              <a:rPr lang="en-US" sz="1350" b="1">
                <a:solidFill>
                  <a:srgbClr val="4299E1"/>
                </a:solidFill>
                <a:latin typeface="Noto Sans"/>
                <a:ea typeface="Noto Sans"/>
                <a:cs typeface="Noto Sans"/>
                <a:sym typeface="Noto Sans"/>
              </a:rPr>
              <a:t>Ferramentas Utilizadas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7213" y="4164806"/>
            <a:ext cx="244673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3593306" y="4493419"/>
            <a:ext cx="87248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942"/>
              <a:buFont typeface="Noto Sans"/>
              <a:buNone/>
            </a:pPr>
            <a:r>
              <a:rPr lang="en-US" sz="942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Google Colabs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86784" y="4164806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4680105" y="4493419"/>
            <a:ext cx="870561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942"/>
              <a:buFont typeface="Noto Sans"/>
              <a:buNone/>
            </a:pPr>
            <a:r>
              <a:rPr lang="en-US" sz="942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Google Sheets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90975" y="1893100"/>
            <a:ext cx="1192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575"/>
              <a:buFont typeface="Noto Sans"/>
              <a:buNone/>
            </a:pPr>
            <a:r>
              <a:rPr lang="en-US" sz="1575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Cadastro</a:t>
            </a:r>
            <a:endParaRPr sz="15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972026" y="1893100"/>
            <a:ext cx="1247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575"/>
              <a:buFont typeface="Noto Sans"/>
              <a:buNone/>
            </a:pPr>
            <a:r>
              <a:rPr lang="en-US" sz="1575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Liquidados</a:t>
            </a:r>
            <a:endParaRPr sz="15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717874" y="1854574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575"/>
              <a:buFont typeface="Noto Sans"/>
              <a:buNone/>
            </a:pPr>
            <a:r>
              <a:rPr lang="en-US" sz="1575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Pré-negados</a:t>
            </a:r>
            <a:endParaRPr sz="15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994374" y="309354"/>
            <a:ext cx="51552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Visão Geral: Desempenho Financeiro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85750" y="1094166"/>
            <a:ext cx="3373828" cy="892969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85750" y="1094166"/>
            <a:ext cx="35719" cy="892969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412063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892969" y="1210371"/>
            <a:ext cx="25551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Total de Clientes na Base</a:t>
            </a:r>
            <a:endParaRPr sz="1600" b="1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92969" y="1501360"/>
            <a:ext cx="14989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150.000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85750" y="2403844"/>
            <a:ext cx="3373828" cy="892969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85750" y="2403844"/>
            <a:ext cx="35719" cy="892969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2721741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828675" y="2520049"/>
            <a:ext cx="28309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Faturamento Médio Mensal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8675" y="2811038"/>
            <a:ext cx="16654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R$ 49,02 mi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85750" y="3713522"/>
            <a:ext cx="3373828" cy="892969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85750" y="3713522"/>
            <a:ext cx="35719" cy="892969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4031419"/>
            <a:ext cx="289322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860822" y="3829727"/>
            <a:ext cx="192520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Faturamento Total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60826" y="4120726"/>
            <a:ext cx="166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R$ 245,22 mi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32228" y="1336825"/>
            <a:ext cx="5520141" cy="3331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9425" y="-14287"/>
            <a:ext cx="9144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2173107" y="322819"/>
            <a:ext cx="4797787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lang="en-US" sz="2025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Visão Geral: Desempenho de Crédito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050025" y="5057775"/>
            <a:ext cx="4335300" cy="19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479875" y="4527725"/>
            <a:ext cx="3905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Renda insuficiente representa </a:t>
            </a:r>
            <a:r>
              <a:rPr lang="en-US" sz="1400" b="1">
                <a:solidFill>
                  <a:srgbClr val="F1C232"/>
                </a:solidFill>
                <a:latin typeface="Noto Sans"/>
                <a:ea typeface="Noto Sans"/>
                <a:cs typeface="Noto Sans"/>
                <a:sym typeface="Noto Sans"/>
              </a:rPr>
              <a:t>31%</a:t>
            </a:r>
            <a:r>
              <a:rPr lang="en-US" sz="1400">
                <a:solidFill>
                  <a:srgbClr val="F1C23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dos casos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aprovados após nova tentativa.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80820" y="919876"/>
            <a:ext cx="328455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Situação de Crédito dos Clientes</a:t>
            </a:r>
            <a:endParaRPr sz="16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30150" y="1372026"/>
            <a:ext cx="3286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600" b="1">
                <a:solidFill>
                  <a:srgbClr val="F39C12"/>
                </a:solidFill>
                <a:latin typeface="Noto Sans"/>
                <a:ea typeface="Noto Sans"/>
                <a:cs typeface="Noto Sans"/>
                <a:sym typeface="Noto Sans"/>
              </a:rPr>
              <a:t>75%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Clientes aprovados para crédito.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30150" y="1741193"/>
            <a:ext cx="26982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600" b="1">
                <a:solidFill>
                  <a:srgbClr val="92D050"/>
                </a:solidFill>
                <a:latin typeface="Noto Sans"/>
                <a:ea typeface="Noto Sans"/>
                <a:cs typeface="Noto Sans"/>
                <a:sym typeface="Noto Sans"/>
              </a:rPr>
              <a:t>20%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Clientes negativados.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80825" y="2408686"/>
            <a:ext cx="323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Novas Tentativas de Solicitação</a:t>
            </a:r>
            <a:endParaRPr sz="16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30150" y="2816025"/>
            <a:ext cx="3827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25%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Solicitaram novo crédito </a:t>
            </a:r>
            <a:endParaRPr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       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(7.536 clientes).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95300" y="3655648"/>
            <a:ext cx="3247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Aprovação após nova tentativa: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30162" y="4095750"/>
            <a:ext cx="3596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75%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Taxa de aprovação após nova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       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tentativa  (5.679 clientes).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826" y="1365993"/>
            <a:ext cx="289915" cy="24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331" y="1736974"/>
            <a:ext cx="292911" cy="234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568" y="2791791"/>
            <a:ext cx="334423" cy="26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830" y="4110654"/>
            <a:ext cx="289915" cy="246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8949" y="1008276"/>
            <a:ext cx="4118400" cy="25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23100" y="4541650"/>
            <a:ext cx="375599" cy="37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487" y="10715"/>
            <a:ext cx="9144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2009601" y="309354"/>
            <a:ext cx="51248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Visão Geral: Desempenho de Crédito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418056" y="1002318"/>
            <a:ext cx="3752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Principais Finalidades de Crédito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29220" y="1886356"/>
            <a:ext cx="2486025" cy="1521619"/>
          </a:xfrm>
          <a:prstGeom prst="rect">
            <a:avLst/>
          </a:prstGeom>
          <a:solidFill>
            <a:srgbClr val="2A4365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217031" y="2079773"/>
            <a:ext cx="171040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Valor Médio Solicitado</a:t>
            </a:r>
            <a:endParaRPr sz="12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07814" y="2386419"/>
            <a:ext cx="2128838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2025"/>
              <a:buFont typeface="Noto Sans"/>
              <a:buNone/>
            </a:pPr>
            <a:r>
              <a:rPr lang="en-US" sz="2025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R$ 2.490,68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07814" y="2851834"/>
            <a:ext cx="2128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00"/>
              <a:buFont typeface="Noto Sans"/>
              <a:buNone/>
            </a:pPr>
            <a:r>
              <a:rPr lang="en-US" sz="1200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Média de todas as solicitações de crédito.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1700" y="1438450"/>
            <a:ext cx="5303649" cy="31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1309087" y="309354"/>
            <a:ext cx="65258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Desempenho de Crédito - Motivos de Negativa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839605" y="1577720"/>
            <a:ext cx="45719" cy="244449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8858" y="2890405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80816" y="3179349"/>
            <a:ext cx="144661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0816" y="3614070"/>
            <a:ext cx="172112" cy="17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285750" y="964216"/>
            <a:ext cx="4326300" cy="6786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92906" y="983069"/>
            <a:ext cx="21704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Renda Insuficiente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92897" y="1308525"/>
            <a:ext cx="70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FFD966"/>
                </a:solidFill>
                <a:latin typeface="Noto Sans"/>
                <a:ea typeface="Noto Sans"/>
                <a:cs typeface="Noto Sans"/>
                <a:sym typeface="Noto Sans"/>
              </a:rPr>
              <a:t>30%</a:t>
            </a: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85750" y="964216"/>
            <a:ext cx="28500" cy="67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85750" y="1799368"/>
            <a:ext cx="4326300" cy="6786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99002" y="1818221"/>
            <a:ext cx="283731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Inconsistência Cadastral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98999" y="2143675"/>
            <a:ext cx="6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FFD966"/>
                </a:solidFill>
                <a:latin typeface="Noto Sans"/>
                <a:ea typeface="Noto Sans"/>
                <a:cs typeface="Noto Sans"/>
                <a:sym typeface="Noto Sans"/>
              </a:rPr>
              <a:t>20%</a:t>
            </a: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85750" y="1799368"/>
            <a:ext cx="28500" cy="67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85750" y="2622328"/>
            <a:ext cx="4326300" cy="6786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17290" y="2641181"/>
            <a:ext cx="312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Documentação Incompleta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17305" y="2966625"/>
            <a:ext cx="6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FFD966"/>
                </a:solidFill>
                <a:latin typeface="Noto Sans"/>
                <a:ea typeface="Noto Sans"/>
                <a:cs typeface="Noto Sans"/>
                <a:sym typeface="Noto Sans"/>
              </a:rPr>
              <a:t>15%</a:t>
            </a:r>
            <a:endParaRPr sz="18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85750" y="2622328"/>
            <a:ext cx="28500" cy="67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85750" y="3401759"/>
            <a:ext cx="4255800" cy="6786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23386" y="3427565"/>
            <a:ext cx="31002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Histórico de Inadimplência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23369" y="3753025"/>
            <a:ext cx="6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85750" y="3401753"/>
            <a:ext cx="28500" cy="67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85750" y="4215969"/>
            <a:ext cx="4297800" cy="6786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41674" y="4250525"/>
            <a:ext cx="13288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800"/>
              <a:buFont typeface="Noto Sans"/>
              <a:buNone/>
            </a:pPr>
            <a:r>
              <a:rPr lang="en-US" sz="18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Score Baixo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885336" y="1577767"/>
            <a:ext cx="4251300" cy="24444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Mais de 60%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dos casos envolvem problemas de cadastro/documentação, indicando: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Deficiência no processo de dados.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Canais de captação pouco claros ou não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amigáveis.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Falta de suporte ou orientação ao cliente.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41676" y="4575975"/>
            <a:ext cx="70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25%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85750" y="4215975"/>
            <a:ext cx="28500" cy="678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3700" y="1646050"/>
            <a:ext cx="375599" cy="37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357200" y="885825"/>
            <a:ext cx="4143300" cy="3048300"/>
          </a:xfrm>
          <a:prstGeom prst="rect">
            <a:avLst/>
          </a:prstGeom>
          <a:solidFill>
            <a:srgbClr val="3498DB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flipH="1">
            <a:off x="326608" y="885825"/>
            <a:ext cx="30600" cy="30483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68192" y="1007590"/>
            <a:ext cx="217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Clientes Adimplentes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781" y="1574006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785813" y="1508046"/>
            <a:ext cx="13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52% Feminino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069" y="1929670"/>
            <a:ext cx="121444" cy="12144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785813" y="1863710"/>
            <a:ext cx="144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45% Solteiro(a)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5781" y="2273141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785813" y="2207181"/>
            <a:ext cx="174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42% Ensino Médio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7213" y="2628805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785829" y="2562850"/>
            <a:ext cx="154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25 a 34 anos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0069" y="293265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785827" y="2866700"/>
            <a:ext cx="185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18% Vendedor(a)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0069" y="324869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785813" y="3182732"/>
            <a:ext cx="16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Score médio: 454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2925" y="3552539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785825" y="3486574"/>
            <a:ext cx="3345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média: R$ 2.370,20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625575" y="885825"/>
            <a:ext cx="4161300" cy="3048300"/>
          </a:xfrm>
          <a:prstGeom prst="rect">
            <a:avLst/>
          </a:prstGeom>
          <a:solidFill>
            <a:srgbClr val="F39C12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 flipH="1">
            <a:off x="4579950" y="885825"/>
            <a:ext cx="35700" cy="30483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829175" y="1007590"/>
            <a:ext cx="2375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Clientes Inadimplentes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2031" y="1574006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5072063" y="1508046"/>
            <a:ext cx="13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51% Feminino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1935" y="1902238"/>
            <a:ext cx="163068" cy="1630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5072063" y="1836278"/>
            <a:ext cx="144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44% Solteiro(a)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2031" y="2282285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5072063" y="2216325"/>
            <a:ext cx="174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42% Ensino Médio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463" y="2625757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5072078" y="2559800"/>
            <a:ext cx="14490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25 a 44 anos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36319" y="292960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5072078" y="2863649"/>
            <a:ext cx="20253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18% Vendedor(a)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36319" y="320906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5072063" y="3143108"/>
            <a:ext cx="16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Score médio: 460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29175" y="3540347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5072076" y="3474372"/>
            <a:ext cx="342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média: R$ 2.365,88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901402" y="348847"/>
            <a:ext cx="534120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Desempenho Comportamental - Perfil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44000" y="4012755"/>
            <a:ext cx="2194511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300"/>
              <a:buFont typeface="Noto Sans"/>
              <a:buNone/>
            </a:pPr>
            <a:r>
              <a:rPr lang="en-US" sz="13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Adimplência na Base Total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55381" y="4291376"/>
            <a:ext cx="1543050" cy="214313"/>
          </a:xfrm>
          <a:prstGeom prst="roundRect">
            <a:avLst>
              <a:gd name="adj" fmla="val 16667"/>
            </a:avLst>
          </a:prstGeom>
          <a:solidFill>
            <a:srgbClr val="48BB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561583" y="4573539"/>
            <a:ext cx="135934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Noto Sans"/>
              <a:buNone/>
            </a:pPr>
            <a:r>
              <a:rPr lang="en-US" sz="1300" b="1">
                <a:solidFill>
                  <a:srgbClr val="6AA84F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r>
              <a:rPr lang="en-US" sz="1300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dos 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389354" y="4256870"/>
            <a:ext cx="848655" cy="214313"/>
          </a:xfrm>
          <a:prstGeom prst="roundRect">
            <a:avLst>
              <a:gd name="adj" fmla="val 16667"/>
            </a:avLst>
          </a:prstGeom>
          <a:solidFill>
            <a:srgbClr val="E53E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995556" y="4539033"/>
            <a:ext cx="135934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Noto Sans"/>
              <a:buNone/>
            </a:pPr>
            <a:r>
              <a:rPr lang="en-US" sz="1300" b="1">
                <a:solidFill>
                  <a:srgbClr val="CC4125"/>
                </a:solidFill>
                <a:latin typeface="Noto Sans"/>
                <a:ea typeface="Noto Sans"/>
                <a:cs typeface="Noto Sans"/>
                <a:sym typeface="Noto Sans"/>
              </a:rPr>
              <a:t>33%</a:t>
            </a:r>
            <a:r>
              <a:rPr lang="en-US" sz="1300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 dos 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98625" y="3978249"/>
            <a:ext cx="2353208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300"/>
              <a:buFont typeface="Noto Sans"/>
              <a:buNone/>
            </a:pPr>
            <a:r>
              <a:rPr lang="en-US" sz="13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Inadimplência na Base Total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38638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lang="en-US" sz="2025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Desempenho Comportamental - Top 100 Clientes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97951" y="1033475"/>
            <a:ext cx="6041700" cy="19644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85750" y="1033463"/>
            <a:ext cx="35700" cy="196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344" y="1178719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696525" y="1131808"/>
            <a:ext cx="3106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Top 100 Clientes Adimplentes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8681" y="1550272"/>
            <a:ext cx="200025" cy="16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772726" y="1500521"/>
            <a:ext cx="13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54% Feminino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1441" y="1528763"/>
            <a:ext cx="200025" cy="16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107" y="1953673"/>
            <a:ext cx="200025" cy="16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03633" y="1892713"/>
            <a:ext cx="200025" cy="16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681" y="2357069"/>
            <a:ext cx="192881" cy="15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86994" y="2225892"/>
            <a:ext cx="208955" cy="167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344" y="2754725"/>
            <a:ext cx="200025" cy="16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285750" y="3136100"/>
            <a:ext cx="6054000" cy="1964400"/>
          </a:xfrm>
          <a:prstGeom prst="rect">
            <a:avLst/>
          </a:prstGeom>
          <a:solidFill>
            <a:srgbClr val="F39C12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85750" y="3136106"/>
            <a:ext cx="35719" cy="1964531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2688" y="335756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707231" y="3320177"/>
            <a:ext cx="28950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rgbClr val="F39C12"/>
                </a:solidFill>
                <a:latin typeface="Noto Sans"/>
                <a:ea typeface="Noto Sans"/>
                <a:cs typeface="Noto Sans"/>
                <a:sym typeface="Noto Sans"/>
              </a:rPr>
              <a:t> Top 100 Clientes Devedores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0813" y="3691193"/>
            <a:ext cx="22860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4113" y="4036218"/>
            <a:ext cx="22860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71053" y="4047173"/>
            <a:ext cx="250030" cy="20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0813" y="4423730"/>
            <a:ext cx="22860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282899" y="4418567"/>
            <a:ext cx="241483" cy="19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44113" y="4811250"/>
            <a:ext cx="22860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767412" y="191555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50% Ensino Superior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589312" y="1485626"/>
            <a:ext cx="1418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43% Casado(a)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89303" y="1814973"/>
            <a:ext cx="14868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 a 59 anos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89303" y="2186319"/>
            <a:ext cx="1652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Score médio: 560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51294" y="2302454"/>
            <a:ext cx="252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55% Servidor(a) Público(a)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67411" y="2689359"/>
            <a:ext cx="316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 R$ 4.913,00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8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285273" y="3649023"/>
            <a:ext cx="171450" cy="1714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0" name="Google Shape;240;p8"/>
          <p:cNvSpPr/>
          <p:nvPr/>
        </p:nvSpPr>
        <p:spPr>
          <a:xfrm>
            <a:off x="778270" y="3667670"/>
            <a:ext cx="134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57% Feminino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4143" y="3623571"/>
            <a:ext cx="144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44% Solteiro(a)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81527" y="4015167"/>
            <a:ext cx="19716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48% Ensino Superior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89301" y="4022699"/>
            <a:ext cx="15432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25 a 44 anos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89308" y="4404734"/>
            <a:ext cx="1652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Score médio: 495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81535" y="4384551"/>
            <a:ext cx="253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48% Servidor(a) Público(a)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43131" y="4789741"/>
            <a:ext cx="316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lang="en-US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 R$ 4.648,00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8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190718" y="2303553"/>
            <a:ext cx="1127930" cy="902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168825" y="309354"/>
            <a:ext cx="68063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Desempenho Comportamental – Top 50 Clientes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67625" y="879025"/>
            <a:ext cx="3378300" cy="27687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66375" y="996550"/>
            <a:ext cx="2793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 Principais Adimplentes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47575" y="900125"/>
            <a:ext cx="45600" cy="2747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60550" y="1381803"/>
            <a:ext cx="61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Gênero: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534675" y="1381803"/>
            <a:ext cx="243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62%  Feminino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66375" y="1617405"/>
            <a:ext cx="93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Estado Civil: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808828" y="1593400"/>
            <a:ext cx="218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44%  Solteiro(a)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59475" y="1845553"/>
            <a:ext cx="102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Escolaridade: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942575" y="1845553"/>
            <a:ext cx="204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46%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Pós-graduado(a)</a:t>
            </a:r>
            <a:endParaRPr sz="1200" b="1">
              <a:solidFill>
                <a:srgbClr val="FFC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55125" y="2096800"/>
            <a:ext cx="95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Faixa Etária: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882175" y="2073700"/>
            <a:ext cx="2100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45 a 59 anos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55125" y="2405605"/>
            <a:ext cx="80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Ocupação: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701200" y="2378500"/>
            <a:ext cx="2298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56%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Servidor(a) Público(a)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866375" y="2634198"/>
            <a:ext cx="125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Score Médio: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55125" y="2862798"/>
            <a:ext cx="208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855125" y="3193800"/>
            <a:ext cx="305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Perfil de baixo risco com alta estabilidade financeira e profissional.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915825" y="900100"/>
            <a:ext cx="3461100" cy="27477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892948" y="900124"/>
            <a:ext cx="45600" cy="27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093519" y="1388805"/>
            <a:ext cx="61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Gênero: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104569" y="1626850"/>
            <a:ext cx="93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Estado Civil: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093519" y="1846005"/>
            <a:ext cx="102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Escolaridade: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093519" y="2074605"/>
            <a:ext cx="95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Faixa Etária: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093519" y="2379405"/>
            <a:ext cx="80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Ocupação: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093519" y="2634198"/>
            <a:ext cx="9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Score Médio: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093519" y="2862798"/>
            <a:ext cx="164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Renda Mensal Média: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093525" y="3208275"/>
            <a:ext cx="288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Perfil de maior risco com menor estabilidade profissional e renda.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785575" y="1387900"/>
            <a:ext cx="2482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64%  Masculino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110550" y="1593400"/>
            <a:ext cx="2180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62%  Casado(a)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179450" y="1845100"/>
            <a:ext cx="21351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54%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Ensino Médio</a:t>
            </a:r>
            <a:endParaRPr sz="1200" b="1">
              <a:solidFill>
                <a:srgbClr val="FFC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151023" y="2073700"/>
            <a:ext cx="2100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45 a 59  anos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991650" y="2378500"/>
            <a:ext cx="22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18%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Vendedor(a)</a:t>
            </a:r>
            <a:endParaRPr sz="1200" b="1">
              <a:solidFill>
                <a:srgbClr val="FFC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35808" y="2634200"/>
            <a:ext cx="21000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467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777699" y="2862800"/>
            <a:ext cx="149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R$ 2.381,00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3448050" y="3983301"/>
            <a:ext cx="31497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Diferença significativa de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renda</a:t>
            </a: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448050" y="4215076"/>
            <a:ext cx="31941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Diferença de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86 pontos</a:t>
            </a: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no score médio.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448050" y="4464128"/>
            <a:ext cx="4397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Maior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escolaridade</a:t>
            </a: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entre adimplentes.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448050" y="4713150"/>
            <a:ext cx="47994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Maior </a:t>
            </a: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estabilidade profissional</a:t>
            </a: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como Servidor(a) Público(a) 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897134" y="2634075"/>
            <a:ext cx="204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553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2534099" y="2862800"/>
            <a:ext cx="143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200"/>
              <a:buFont typeface="Noto Sans"/>
              <a:buNone/>
            </a:pPr>
            <a:r>
              <a:rPr lang="en-US" sz="1200" b="1">
                <a:solidFill>
                  <a:srgbClr val="FFC000"/>
                </a:solidFill>
                <a:latin typeface="Noto Sans"/>
                <a:ea typeface="Noto Sans"/>
                <a:cs typeface="Noto Sans"/>
                <a:sym typeface="Noto Sans"/>
              </a:rPr>
              <a:t>R$ 5.047,00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104574" y="961000"/>
            <a:ext cx="2760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 Principais Devedores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5175" y="4147700"/>
            <a:ext cx="599200" cy="5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7252f3d92d_0_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7252f3d92d_0_8"/>
          <p:cNvSpPr/>
          <p:nvPr/>
        </p:nvSpPr>
        <p:spPr>
          <a:xfrm>
            <a:off x="1821250" y="246619"/>
            <a:ext cx="55014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lang="en-US" sz="2025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Otimizando Resultados – Reduzindo Riscos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7252f3d92d_0_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450" y="8578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7252f3d92d_0_8"/>
          <p:cNvSpPr/>
          <p:nvPr/>
        </p:nvSpPr>
        <p:spPr>
          <a:xfrm>
            <a:off x="640352" y="814938"/>
            <a:ext cx="3386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350"/>
              <a:buFont typeface="Noto Sans"/>
              <a:buNone/>
            </a:pPr>
            <a:r>
              <a:rPr lang="en-US" sz="135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Aprimorar Critérios de Concessão 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7252f3d92d_0_8"/>
          <p:cNvSpPr/>
          <p:nvPr/>
        </p:nvSpPr>
        <p:spPr>
          <a:xfrm>
            <a:off x="285750" y="1285875"/>
            <a:ext cx="4179000" cy="1386000"/>
          </a:xfrm>
          <a:prstGeom prst="rect">
            <a:avLst/>
          </a:prstGeom>
          <a:solidFill>
            <a:srgbClr val="3498DB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38469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7252f3d92d_0_8"/>
          <p:cNvSpPr/>
          <p:nvPr/>
        </p:nvSpPr>
        <p:spPr>
          <a:xfrm>
            <a:off x="700350" y="1352550"/>
            <a:ext cx="362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Criação de políticas de crédito segmentadas baseadas no perfil do cliente.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83475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7252f3d92d_0_8"/>
          <p:cNvSpPr/>
          <p:nvPr/>
        </p:nvSpPr>
        <p:spPr>
          <a:xfrm>
            <a:off x="700350" y="1802600"/>
            <a:ext cx="362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Oferecer limites iniciais menores com progressão baseada em histórico e renda.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22848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7252f3d92d_0_8"/>
          <p:cNvSpPr/>
          <p:nvPr/>
        </p:nvSpPr>
        <p:spPr>
          <a:xfrm>
            <a:off x="705125" y="2199125"/>
            <a:ext cx="362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Implementar sistema de score progressivo para clientes com bom histórico de pagamento.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37252f3d92d_0_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5356" y="85248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7252f3d92d_0_8"/>
          <p:cNvSpPr/>
          <p:nvPr/>
        </p:nvSpPr>
        <p:spPr>
          <a:xfrm>
            <a:off x="5041098" y="809625"/>
            <a:ext cx="31848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350"/>
              <a:buFont typeface="Noto Sans"/>
              <a:buNone/>
            </a:pPr>
            <a:r>
              <a:rPr lang="en-US" sz="135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Engajar Clientes Reprovados 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7252f3d92d_0_8"/>
          <p:cNvSpPr/>
          <p:nvPr/>
        </p:nvSpPr>
        <p:spPr>
          <a:xfrm>
            <a:off x="4679150" y="1285875"/>
            <a:ext cx="4179000" cy="1386000"/>
          </a:xfrm>
          <a:prstGeom prst="rect">
            <a:avLst/>
          </a:prstGeom>
          <a:solidFill>
            <a:srgbClr val="3498DB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2031" y="138469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7252f3d92d_0_8"/>
          <p:cNvSpPr/>
          <p:nvPr/>
        </p:nvSpPr>
        <p:spPr>
          <a:xfrm>
            <a:off x="5098256" y="1428750"/>
            <a:ext cx="3530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Campanhas de reoferta de crédito com condições personalizadas.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2031" y="183713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7252f3d92d_0_8"/>
          <p:cNvSpPr/>
          <p:nvPr/>
        </p:nvSpPr>
        <p:spPr>
          <a:xfrm>
            <a:off x="5098256" y="1804988"/>
            <a:ext cx="3693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Comunicação proativa sobre motivos de negativa e orientações para aprovação.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g37252f3d92d_0_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2031" y="22871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7252f3d92d_0_8"/>
          <p:cNvSpPr/>
          <p:nvPr/>
        </p:nvSpPr>
        <p:spPr>
          <a:xfrm>
            <a:off x="5098250" y="2255055"/>
            <a:ext cx="36099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lang="en-US" sz="103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Programa de educação financeira para melhorar o perfil de crédito.</a:t>
            </a:r>
            <a:endParaRPr sz="10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g37252f3d92d_0_8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5750" y="2734850"/>
            <a:ext cx="4179000" cy="2343101"/>
          </a:xfrm>
          <a:prstGeom prst="rect">
            <a:avLst/>
          </a:prstGeom>
          <a:solidFill>
            <a:srgbClr val="3498DB">
              <a:alpha val="9800"/>
            </a:srgbClr>
          </a:solidFill>
          <a:ln>
            <a:noFill/>
          </a:ln>
        </p:spPr>
      </p:pic>
      <p:sp>
        <p:nvSpPr>
          <p:cNvPr id="322" name="Google Shape;322;g37252f3d92d_0_8"/>
          <p:cNvSpPr/>
          <p:nvPr/>
        </p:nvSpPr>
        <p:spPr>
          <a:xfrm>
            <a:off x="428619" y="2774147"/>
            <a:ext cx="37575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1046"/>
              <a:buFont typeface="Noto Sans"/>
              <a:buNone/>
            </a:pPr>
            <a:r>
              <a:rPr lang="en-US" sz="1046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Comparativo de Renda Média</a:t>
            </a:r>
            <a:endParaRPr sz="104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g37252f3d92d_0_8" title="Gráfico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9150" y="2746825"/>
            <a:ext cx="4179000" cy="22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7252f3d92d_0_8"/>
          <p:cNvSpPr/>
          <p:nvPr/>
        </p:nvSpPr>
        <p:spPr>
          <a:xfrm>
            <a:off x="4703000" y="2717175"/>
            <a:ext cx="4179000" cy="2343000"/>
          </a:xfrm>
          <a:prstGeom prst="rect">
            <a:avLst/>
          </a:prstGeom>
          <a:solidFill>
            <a:srgbClr val="3498DB">
              <a:alpha val="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1821250" y="219301"/>
            <a:ext cx="5501506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lang="en-US" sz="2025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Otimizando Resultados – Oportunidades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710" y="714718"/>
            <a:ext cx="246221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681038" y="736025"/>
            <a:ext cx="303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600"/>
              <a:buFont typeface="Noto Sans"/>
              <a:buNone/>
            </a:pPr>
            <a:r>
              <a:rPr lang="en-US" sz="16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Reduzir Negativas de Crédito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85725" y="2506928"/>
            <a:ext cx="4587600" cy="12144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700340" y="2635140"/>
            <a:ext cx="2210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Inconsistência Cadastral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00348" y="2930987"/>
            <a:ext cx="37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</a:pP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Representa </a:t>
            </a:r>
            <a:r>
              <a:rPr lang="en-US"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20%</a:t>
            </a: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das negativas de crédito.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700350" y="3226825"/>
            <a:ext cx="417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Oportunidade: Implementar validação de dados em tempo real durante o cadastro.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297125" y="3851925"/>
            <a:ext cx="4564800" cy="11751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00345" y="3952125"/>
            <a:ext cx="243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Documentação Incompleta</a:t>
            </a:r>
            <a:endParaRPr sz="14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700350" y="4545875"/>
            <a:ext cx="40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Oportunidade: Automatizar alertas de pendências e facilitar o reenvio de documentos.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70475" y="1173025"/>
            <a:ext cx="4587600" cy="1203300"/>
          </a:xfrm>
          <a:prstGeom prst="rect">
            <a:avLst/>
          </a:prstGeom>
          <a:solidFill>
            <a:srgbClr val="3498DB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1"/>
          <p:cNvGrpSpPr/>
          <p:nvPr/>
        </p:nvGrpSpPr>
        <p:grpSpPr>
          <a:xfrm>
            <a:off x="343470" y="3948366"/>
            <a:ext cx="285750" cy="285750"/>
            <a:chOff x="250164" y="2784044"/>
            <a:chExt cx="285750" cy="285750"/>
          </a:xfrm>
        </p:grpSpPr>
        <p:sp>
          <p:nvSpPr>
            <p:cNvPr id="343" name="Google Shape;343;p11"/>
            <p:cNvSpPr/>
            <p:nvPr/>
          </p:nvSpPr>
          <p:spPr>
            <a:xfrm>
              <a:off x="250164" y="2784044"/>
              <a:ext cx="285750" cy="28575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4" name="Google Shape;344;p11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176" y="2871709"/>
              <a:ext cx="85725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5" name="Google Shape;345;p11"/>
          <p:cNvGrpSpPr/>
          <p:nvPr/>
        </p:nvGrpSpPr>
        <p:grpSpPr>
          <a:xfrm>
            <a:off x="343481" y="1220958"/>
            <a:ext cx="285750" cy="285750"/>
            <a:chOff x="457200" y="4203126"/>
            <a:chExt cx="285750" cy="285750"/>
          </a:xfrm>
        </p:grpSpPr>
        <p:sp>
          <p:nvSpPr>
            <p:cNvPr id="346" name="Google Shape;346;p11"/>
            <p:cNvSpPr/>
            <p:nvPr/>
          </p:nvSpPr>
          <p:spPr>
            <a:xfrm>
              <a:off x="457200" y="4203126"/>
              <a:ext cx="285750" cy="28575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7" name="Google Shape;347;p11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35781" y="4288851"/>
              <a:ext cx="128588" cy="114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11"/>
          <p:cNvSpPr/>
          <p:nvPr/>
        </p:nvSpPr>
        <p:spPr>
          <a:xfrm>
            <a:off x="337870" y="2588404"/>
            <a:ext cx="285900" cy="2859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8756" y="2662739"/>
            <a:ext cx="144144" cy="114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/>
          <p:nvPr/>
        </p:nvSpPr>
        <p:spPr>
          <a:xfrm>
            <a:off x="677245" y="1240906"/>
            <a:ext cx="168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Renda Insuficiente</a:t>
            </a:r>
            <a:endParaRPr sz="1400" b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00340" y="1861067"/>
            <a:ext cx="427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</a:pPr>
            <a:r>
              <a:rPr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Oportunidade: Oferecer alternativas de crédito segmentadas com limites iniciais menores.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71225" y="1365725"/>
            <a:ext cx="4274699" cy="290212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/>
          <p:nvPr/>
        </p:nvSpPr>
        <p:spPr>
          <a:xfrm>
            <a:off x="700350" y="4234125"/>
            <a:ext cx="35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</a:pP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Representa </a:t>
            </a:r>
            <a:r>
              <a:rPr lang="en-US"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15%</a:t>
            </a: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das negativas de crédito.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81173" y="1553750"/>
            <a:ext cx="3705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</a:pP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Representa </a:t>
            </a:r>
            <a:r>
              <a:rPr lang="en-US"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30%</a:t>
            </a:r>
            <a:r>
              <a:rPr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das negativas de crédito.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301"/>
            <a:ext cx="9144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2676451" y="205836"/>
            <a:ext cx="37911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Estratégias Recomendadas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342900" y="900113"/>
            <a:ext cx="428625" cy="428625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8" y="1028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885825" y="899548"/>
            <a:ext cx="444192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Plano de renegociação com parcelas progressivas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885825" y="1184731"/>
            <a:ext cx="720575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Recuperar inadimplentes sem comprometer a renda mensal, oferecendo limites iniciais menores com progressão de crédito baseada em histórico e renda.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42900" y="1921669"/>
            <a:ext cx="428625" cy="428625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056" y="205025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885825" y="1921104"/>
            <a:ext cx="311303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Educação financeira personalizada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85825" y="2206287"/>
            <a:ext cx="720575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Reduzir reincidência de inadimplência através de conteúdo educativo adaptado ao perfil do cliente, com foco em gestão financeira e planejamento.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42900" y="2943225"/>
            <a:ext cx="428625" cy="428625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919" y="3071813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885825" y="2942660"/>
            <a:ext cx="316432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Recompensas para bons pagadores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85825" y="3227844"/>
            <a:ext cx="720575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Fidelização e estímulo à adimplência através de programa de benefícios progressivos, como taxas reduzidas e limites ampliados para clientes pontuais.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42900" y="3964781"/>
            <a:ext cx="428625" cy="428625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1488" y="409336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>
            <a:off x="885825" y="3964216"/>
            <a:ext cx="306654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Monitoramento contínuo de score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885825" y="4249400"/>
            <a:ext cx="720575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Acompanhar evolução dos clientes recuperados, com alertas preventivos e intervenções proativas antes da deterioração do perfil de crédito.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38638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3"/>
          <p:cNvSpPr/>
          <p:nvPr/>
        </p:nvSpPr>
        <p:spPr>
          <a:xfrm>
            <a:off x="410293" y="1313524"/>
            <a:ext cx="828513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200"/>
              <a:buFont typeface="Noto Sans"/>
              <a:buNone/>
            </a:pPr>
            <a:r>
              <a:rPr lang="en-US" sz="2200" b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Os dados falam. Agora é hora de agir: personalizar ofertas, revisar políticas e engajar com inteligência. 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5012" y="2388134"/>
            <a:ext cx="2548028" cy="127401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6161375" y="4148875"/>
            <a:ext cx="2771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2200"/>
              <a:buFont typeface="Noto Sans"/>
              <a:buNone/>
            </a:pPr>
            <a:r>
              <a:rPr lang="en-US" sz="1100" b="1" i="0" u="none" strike="noStrike" cap="none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Projeto Final - </a:t>
            </a:r>
            <a:r>
              <a:rPr lang="en-US" sz="1100" b="1">
                <a:solidFill>
                  <a:srgbClr val="EDF2F7"/>
                </a:solidFill>
                <a:latin typeface="Noto Sans"/>
                <a:ea typeface="Noto Sans"/>
                <a:cs typeface="Noto Sans"/>
                <a:sym typeface="Noto Sans"/>
              </a:rPr>
              <a:t>Vem pra Neuro, Mulher!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161375" y="4431975"/>
            <a:ext cx="1861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99E1"/>
              </a:buClr>
              <a:buSzPts val="2025"/>
              <a:buFont typeface="Noto Sans"/>
              <a:buNone/>
            </a:pPr>
            <a:r>
              <a:rPr lang="en-US" sz="1125" b="1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Micheline Cavalcanti</a:t>
            </a:r>
            <a:endParaRPr sz="112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</Words>
  <Application>Microsoft Office PowerPoint</Application>
  <PresentationFormat>Apresentação na tela (16:9)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Calibri</vt:lpstr>
      <vt:lpstr>Montserrat</vt:lpstr>
      <vt:lpstr>Arial</vt:lpstr>
      <vt:lpstr>Open Sans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Micheline Cavalcanti | Coopanest-PE</cp:lastModifiedBy>
  <cp:revision>1</cp:revision>
  <dcterms:created xsi:type="dcterms:W3CDTF">2025-07-30T18:34:25Z</dcterms:created>
  <dcterms:modified xsi:type="dcterms:W3CDTF">2026-01-11T16:20:06Z</dcterms:modified>
</cp:coreProperties>
</file>